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Shape 15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/>
          <p:nvPr>
            <p:ph type="title"/>
          </p:nvPr>
        </p:nvSpPr>
        <p:spPr>
          <a:xfrm>
            <a:off x="3962400" y="549276"/>
            <a:ext cx="16459200" cy="2286002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ctr" defTabSz="914400">
              <a:lnSpc>
                <a:spcPct val="100000"/>
              </a:lnSpc>
              <a:defRPr b="0" spc="0" sz="8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</p:spPr>
        <p:txBody>
          <a:bodyPr lIns="91437" tIns="91437" rIns="91437" bIns="91437"/>
          <a:lstStyle>
            <a:lvl1pPr marL="685800" indent="-685800" defTabSz="914400">
              <a:lnSpc>
                <a:spcPct val="100000"/>
              </a:lnSpc>
              <a:spcBef>
                <a:spcPts val="1400"/>
              </a:spcBef>
              <a:buSzPct val="100000"/>
              <a:buFont typeface="Arial"/>
              <a:defRPr sz="6400">
                <a:latin typeface="Calibri"/>
                <a:ea typeface="Calibri"/>
                <a:cs typeface="Calibri"/>
                <a:sym typeface="Calibri"/>
              </a:defRPr>
            </a:lvl1pPr>
            <a:lvl2pPr marL="1110342" indent="-653142" defTabSz="914400">
              <a:lnSpc>
                <a:spcPct val="100000"/>
              </a:lnSpc>
              <a:spcBef>
                <a:spcPts val="1400"/>
              </a:spcBef>
              <a:buSzPct val="100000"/>
              <a:buFont typeface="Arial"/>
              <a:buChar char="–"/>
              <a:defRPr sz="6400">
                <a:latin typeface="Calibri"/>
                <a:ea typeface="Calibri"/>
                <a:cs typeface="Calibri"/>
                <a:sym typeface="Calibri"/>
              </a:defRPr>
            </a:lvl2pPr>
            <a:lvl3pPr marL="1524000" defTabSz="914400">
              <a:lnSpc>
                <a:spcPct val="100000"/>
              </a:lnSpc>
              <a:spcBef>
                <a:spcPts val="1400"/>
              </a:spcBef>
              <a:buSzPct val="100000"/>
              <a:buFont typeface="Arial"/>
              <a:defRPr sz="6400">
                <a:latin typeface="Calibri"/>
                <a:ea typeface="Calibri"/>
                <a:cs typeface="Calibri"/>
                <a:sym typeface="Calibri"/>
              </a:defRPr>
            </a:lvl3pPr>
            <a:lvl4pPr marL="2103120" indent="-731520" defTabSz="914400">
              <a:lnSpc>
                <a:spcPct val="100000"/>
              </a:lnSpc>
              <a:spcBef>
                <a:spcPts val="1400"/>
              </a:spcBef>
              <a:buSzPct val="100000"/>
              <a:buFont typeface="Arial"/>
              <a:buChar char="–"/>
              <a:defRPr sz="6400">
                <a:latin typeface="Calibri"/>
                <a:ea typeface="Calibri"/>
                <a:cs typeface="Calibri"/>
                <a:sym typeface="Calibri"/>
              </a:defRPr>
            </a:lvl4pPr>
            <a:lvl5pPr marL="2560320" indent="-731520" defTabSz="914400">
              <a:lnSpc>
                <a:spcPct val="100000"/>
              </a:lnSpc>
              <a:spcBef>
                <a:spcPts val="1400"/>
              </a:spcBef>
              <a:buSzPct val="100000"/>
              <a:buFont typeface="Arial"/>
              <a:buChar char="»"/>
              <a:defRPr sz="6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19917056" y="12802236"/>
            <a:ext cx="504544" cy="5511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914400"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 1"/>
          <p:cNvSpPr txBox="1"/>
          <p:nvPr>
            <p:ph type="title"/>
          </p:nvPr>
        </p:nvSpPr>
        <p:spPr>
          <a:xfrm>
            <a:off x="7415262" y="151034"/>
            <a:ext cx="16459202" cy="2286003"/>
          </a:xfrm>
          <a:prstGeom prst="rect">
            <a:avLst/>
          </a:prstGeom>
        </p:spPr>
        <p:txBody>
          <a:bodyPr/>
          <a:lstStyle>
            <a:lvl1pPr algn="l">
              <a:defRPr sz="7000"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GRN of PC differentiation in GC</a:t>
            </a:r>
          </a:p>
        </p:txBody>
      </p:sp>
      <p:sp>
        <p:nvSpPr>
          <p:cNvPr id="161" name="AutoShape 65"/>
          <p:cNvSpPr/>
          <p:nvPr/>
        </p:nvSpPr>
        <p:spPr>
          <a:xfrm>
            <a:off x="10835109" y="5506697"/>
            <a:ext cx="5" cy="174817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62" name="Text Box 59"/>
          <p:cNvSpPr txBox="1"/>
          <p:nvPr/>
        </p:nvSpPr>
        <p:spPr>
          <a:xfrm>
            <a:off x="10192471" y="5990066"/>
            <a:ext cx="1041927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spcBef>
                <a:spcPts val="2000"/>
              </a:spcBef>
              <a:defRPr sz="2800">
                <a:solidFill>
                  <a:srgbClr val="FF26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BCL6</a:t>
            </a:r>
          </a:p>
        </p:txBody>
      </p:sp>
      <p:sp>
        <p:nvSpPr>
          <p:cNvPr id="163" name="Text Box 61"/>
          <p:cNvSpPr txBox="1"/>
          <p:nvPr/>
        </p:nvSpPr>
        <p:spPr>
          <a:xfrm>
            <a:off x="10790696" y="8232722"/>
            <a:ext cx="1383393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spcBef>
                <a:spcPts val="2000"/>
              </a:spcBef>
              <a:defRPr sz="2800">
                <a:solidFill>
                  <a:srgbClr val="CF881E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BLIMP1</a:t>
            </a:r>
          </a:p>
        </p:txBody>
      </p:sp>
      <p:sp>
        <p:nvSpPr>
          <p:cNvPr id="164" name="AutoShape 62"/>
          <p:cNvSpPr/>
          <p:nvPr/>
        </p:nvSpPr>
        <p:spPr>
          <a:xfrm flipH="1">
            <a:off x="11869581" y="6508704"/>
            <a:ext cx="1794319" cy="179431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67" name="Group 66"/>
          <p:cNvGrpSpPr/>
          <p:nvPr/>
        </p:nvGrpSpPr>
        <p:grpSpPr>
          <a:xfrm>
            <a:off x="10546900" y="6500696"/>
            <a:ext cx="549477" cy="1796865"/>
            <a:chOff x="-1" y="-1"/>
            <a:chExt cx="549475" cy="1796863"/>
          </a:xfrm>
        </p:grpSpPr>
        <p:sp>
          <p:nvSpPr>
            <p:cNvPr id="165" name="AutoShape 67"/>
            <p:cNvSpPr/>
            <p:nvPr/>
          </p:nvSpPr>
          <p:spPr>
            <a:xfrm>
              <a:off x="87322" y="5246"/>
              <a:ext cx="462153" cy="179161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" name="AutoShape 68"/>
            <p:cNvSpPr/>
            <p:nvPr/>
          </p:nvSpPr>
          <p:spPr>
            <a:xfrm flipH="1" flipV="1">
              <a:off x="-2" y="-2"/>
              <a:ext cx="194339" cy="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170" name="Group 69"/>
          <p:cNvGrpSpPr/>
          <p:nvPr/>
        </p:nvGrpSpPr>
        <p:grpSpPr>
          <a:xfrm>
            <a:off x="10764841" y="6526132"/>
            <a:ext cx="591247" cy="1715901"/>
            <a:chOff x="0" y="-2"/>
            <a:chExt cx="591245" cy="1715900"/>
          </a:xfrm>
        </p:grpSpPr>
        <p:sp>
          <p:nvSpPr>
            <p:cNvPr id="168" name="AutoShape 70"/>
            <p:cNvSpPr/>
            <p:nvPr/>
          </p:nvSpPr>
          <p:spPr>
            <a:xfrm flipH="1" flipV="1">
              <a:off x="-1" y="-3"/>
              <a:ext cx="492791" cy="171590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" name="AutoShape 71"/>
            <p:cNvSpPr/>
            <p:nvPr/>
          </p:nvSpPr>
          <p:spPr>
            <a:xfrm>
              <a:off x="396785" y="1715428"/>
              <a:ext cx="194461" cy="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179" name="Group 51"/>
          <p:cNvGrpSpPr/>
          <p:nvPr/>
        </p:nvGrpSpPr>
        <p:grpSpPr>
          <a:xfrm>
            <a:off x="10211090" y="4415005"/>
            <a:ext cx="600792" cy="659607"/>
            <a:chOff x="-3" y="-2"/>
            <a:chExt cx="600790" cy="659606"/>
          </a:xfrm>
        </p:grpSpPr>
        <p:grpSp>
          <p:nvGrpSpPr>
            <p:cNvPr id="174" name="Group 34"/>
            <p:cNvGrpSpPr/>
            <p:nvPr/>
          </p:nvGrpSpPr>
          <p:grpSpPr>
            <a:xfrm>
              <a:off x="-4" y="212278"/>
              <a:ext cx="463970" cy="447326"/>
              <a:chOff x="-1" y="-2"/>
              <a:chExt cx="463969" cy="447325"/>
            </a:xfrm>
          </p:grpSpPr>
          <p:sp>
            <p:nvSpPr>
              <p:cNvPr id="171" name="Rectangle 48"/>
              <p:cNvSpPr/>
              <p:nvPr/>
            </p:nvSpPr>
            <p:spPr>
              <a:xfrm rot="20129030">
                <a:off x="343419" y="146059"/>
                <a:ext cx="60553" cy="302329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172" name="Rectangle 49"/>
              <p:cNvSpPr/>
              <p:nvPr/>
            </p:nvSpPr>
            <p:spPr>
              <a:xfrm rot="20129030">
                <a:off x="37384" y="3844"/>
                <a:ext cx="60553" cy="193353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173" name="Rectangle 50"/>
              <p:cNvSpPr/>
              <p:nvPr/>
            </p:nvSpPr>
            <p:spPr>
              <a:xfrm rot="16529030">
                <a:off x="187013" y="42943"/>
                <a:ext cx="44621" cy="262387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4BACC6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</p:grpSp>
        <p:grpSp>
          <p:nvGrpSpPr>
            <p:cNvPr id="178" name="Group 35"/>
            <p:cNvGrpSpPr/>
            <p:nvPr/>
          </p:nvGrpSpPr>
          <p:grpSpPr>
            <a:xfrm>
              <a:off x="390729" y="-3"/>
              <a:ext cx="210059" cy="610666"/>
              <a:chOff x="0" y="0"/>
              <a:chExt cx="210057" cy="610665"/>
            </a:xfrm>
          </p:grpSpPr>
          <p:sp>
            <p:nvSpPr>
              <p:cNvPr id="175" name="Rectangle 45"/>
              <p:cNvSpPr/>
              <p:nvPr/>
            </p:nvSpPr>
            <p:spPr>
              <a:xfrm flipH="1" rot="20129030">
                <a:off x="59995" y="309405"/>
                <a:ext cx="60553" cy="302325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4BACC6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176" name="Rectangle 46"/>
              <p:cNvSpPr/>
              <p:nvPr/>
            </p:nvSpPr>
            <p:spPr>
              <a:xfrm flipH="1" rot="20129030">
                <a:off x="112122" y="3845"/>
                <a:ext cx="60551" cy="193351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4BACC6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177" name="Rectangle 47"/>
              <p:cNvSpPr/>
              <p:nvPr/>
            </p:nvSpPr>
            <p:spPr>
              <a:xfrm flipH="1" rot="2129030">
                <a:off x="82787" y="124561"/>
                <a:ext cx="44621" cy="262387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</p:grpSp>
      </p:grpSp>
      <p:sp>
        <p:nvSpPr>
          <p:cNvPr id="180" name="Oval 52"/>
          <p:cNvSpPr/>
          <p:nvPr/>
        </p:nvSpPr>
        <p:spPr>
          <a:xfrm>
            <a:off x="9618499" y="4493574"/>
            <a:ext cx="5163033" cy="4608425"/>
          </a:xfrm>
          <a:prstGeom prst="ellipse">
            <a:avLst/>
          </a:prstGeom>
          <a:ln w="76200">
            <a:solidFill>
              <a:srgbClr val="FFC000"/>
            </a:solidFill>
          </a:ln>
        </p:spPr>
        <p:txBody>
          <a:bodyPr lIns="91437" tIns="91437" rIns="91437" bIns="91437" anchor="ctr"/>
          <a:lstStyle/>
          <a:p>
            <a:pPr defTabSz="914400">
              <a:defRPr>
                <a:solidFill>
                  <a:srgbClr val="0000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pPr>
          </a:p>
        </p:txBody>
      </p:sp>
      <p:grpSp>
        <p:nvGrpSpPr>
          <p:cNvPr id="187" name="Group 44"/>
          <p:cNvGrpSpPr/>
          <p:nvPr/>
        </p:nvGrpSpPr>
        <p:grpSpPr>
          <a:xfrm>
            <a:off x="13458555" y="4484470"/>
            <a:ext cx="458651" cy="492814"/>
            <a:chOff x="-3" y="-3"/>
            <a:chExt cx="458650" cy="492812"/>
          </a:xfrm>
        </p:grpSpPr>
        <p:grpSp>
          <p:nvGrpSpPr>
            <p:cNvPr id="183" name="Group 6"/>
            <p:cNvGrpSpPr/>
            <p:nvPr/>
          </p:nvGrpSpPr>
          <p:grpSpPr>
            <a:xfrm>
              <a:off x="-4" y="-4"/>
              <a:ext cx="235748" cy="437338"/>
              <a:chOff x="-1" y="-1"/>
              <a:chExt cx="235746" cy="437337"/>
            </a:xfrm>
          </p:grpSpPr>
          <p:sp>
            <p:nvSpPr>
              <p:cNvPr id="181" name="Block Arc 71"/>
              <p:cNvSpPr/>
              <p:nvPr/>
            </p:nvSpPr>
            <p:spPr>
              <a:xfrm rot="12496510">
                <a:off x="29626" y="31686"/>
                <a:ext cx="176492" cy="1695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6" y="0"/>
                    </a:moveTo>
                    <a:cubicBezTo>
                      <a:pt x="12148" y="457"/>
                      <a:pt x="21600" y="9868"/>
                      <a:pt x="21600" y="21320"/>
                    </a:cubicBezTo>
                    <a:lnTo>
                      <a:pt x="17383" y="21600"/>
                    </a:lnTo>
                    <a:cubicBezTo>
                      <a:pt x="17383" y="12497"/>
                      <a:pt x="9708" y="5019"/>
                      <a:pt x="0" y="4663"/>
                    </a:cubicBezTo>
                    <a:close/>
                  </a:path>
                </a:pathLst>
              </a:custGeom>
              <a:solidFill>
                <a:srgbClr val="00F900"/>
              </a:solidFill>
              <a:ln w="25400" cap="flat">
                <a:solidFill>
                  <a:srgbClr val="77EB31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000000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182" name="Rectangle 72"/>
              <p:cNvSpPr/>
              <p:nvPr/>
            </p:nvSpPr>
            <p:spPr>
              <a:xfrm rot="1696511">
                <a:off x="70043" y="181501"/>
                <a:ext cx="39057" cy="262229"/>
              </a:xfrm>
              <a:prstGeom prst="rect">
                <a:avLst/>
              </a:prstGeom>
              <a:solidFill>
                <a:srgbClr val="77ED39"/>
              </a:solidFill>
              <a:ln w="25400" cap="flat">
                <a:solidFill>
                  <a:srgbClr val="82ED2E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</p:grpSp>
        <p:grpSp>
          <p:nvGrpSpPr>
            <p:cNvPr id="186" name="Group 40"/>
            <p:cNvGrpSpPr/>
            <p:nvPr/>
          </p:nvGrpSpPr>
          <p:grpSpPr>
            <a:xfrm>
              <a:off x="113398" y="119890"/>
              <a:ext cx="345250" cy="372920"/>
              <a:chOff x="0" y="-1"/>
              <a:chExt cx="345248" cy="372918"/>
            </a:xfrm>
          </p:grpSpPr>
          <p:sp>
            <p:nvSpPr>
              <p:cNvPr id="184" name="Block Arc 69"/>
              <p:cNvSpPr/>
              <p:nvPr/>
            </p:nvSpPr>
            <p:spPr>
              <a:xfrm flipH="1" rot="12496510">
                <a:off x="139128" y="31686"/>
                <a:ext cx="176493" cy="1695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6" y="0"/>
                    </a:moveTo>
                    <a:cubicBezTo>
                      <a:pt x="12148" y="457"/>
                      <a:pt x="21600" y="9868"/>
                      <a:pt x="21600" y="21320"/>
                    </a:cubicBezTo>
                    <a:lnTo>
                      <a:pt x="17383" y="21600"/>
                    </a:lnTo>
                    <a:cubicBezTo>
                      <a:pt x="17383" y="12497"/>
                      <a:pt x="9708" y="5019"/>
                      <a:pt x="0" y="4663"/>
                    </a:cubicBezTo>
                    <a:close/>
                  </a:path>
                </a:pathLst>
              </a:custGeom>
              <a:solidFill>
                <a:srgbClr val="73E73A"/>
              </a:solidFill>
              <a:ln w="25400" cap="flat">
                <a:solidFill>
                  <a:srgbClr val="8FFF45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000000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185" name="Rectangle 70"/>
              <p:cNvSpPr/>
              <p:nvPr/>
            </p:nvSpPr>
            <p:spPr>
              <a:xfrm flipH="1" rot="1696511">
                <a:off x="59780" y="117079"/>
                <a:ext cx="39055" cy="262233"/>
              </a:xfrm>
              <a:prstGeom prst="rect">
                <a:avLst/>
              </a:prstGeom>
              <a:solidFill>
                <a:srgbClr val="86FB60"/>
              </a:solidFill>
              <a:ln w="25400" cap="flat">
                <a:solidFill>
                  <a:srgbClr val="69EA30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</p:grpSp>
      </p:grpSp>
      <p:sp>
        <p:nvSpPr>
          <p:cNvPr id="188" name="Arc 1"/>
          <p:cNvSpPr/>
          <p:nvPr/>
        </p:nvSpPr>
        <p:spPr>
          <a:xfrm rot="1579664">
            <a:off x="10718869" y="5627508"/>
            <a:ext cx="342727" cy="38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38100">
            <a:solidFill>
              <a:srgbClr val="000000"/>
            </a:solidFill>
          </a:ln>
        </p:spPr>
        <p:txBody>
          <a:bodyPr lIns="91437" tIns="91437" rIns="91437" bIns="91437" anchor="ctr"/>
          <a:lstStyle/>
          <a:p>
            <a:pPr defTabSz="914400"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9" name="Arc 56"/>
          <p:cNvSpPr/>
          <p:nvPr/>
        </p:nvSpPr>
        <p:spPr>
          <a:xfrm flipH="1" rot="21035755">
            <a:off x="11067380" y="5559900"/>
            <a:ext cx="2269915" cy="38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045" fill="norm" stroke="1" extrusionOk="0">
                <a:moveTo>
                  <a:pt x="0" y="3590"/>
                </a:moveTo>
                <a:cubicBezTo>
                  <a:pt x="6111" y="-2555"/>
                  <a:pt x="14631" y="-617"/>
                  <a:pt x="19031" y="7918"/>
                </a:cubicBezTo>
                <a:cubicBezTo>
                  <a:pt x="20701" y="11159"/>
                  <a:pt x="21600" y="15052"/>
                  <a:pt x="21600" y="19045"/>
                </a:cubicBezTo>
              </a:path>
            </a:pathLst>
          </a:custGeom>
          <a:ln w="38100">
            <a:solidFill>
              <a:srgbClr val="000000"/>
            </a:solidFill>
          </a:ln>
        </p:spPr>
        <p:txBody>
          <a:bodyPr lIns="91437" tIns="91437" rIns="91437" bIns="91437" anchor="ctr"/>
          <a:lstStyle/>
          <a:p>
            <a:pPr defTabSz="914400"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0" name="AutoShape 65"/>
          <p:cNvSpPr/>
          <p:nvPr/>
        </p:nvSpPr>
        <p:spPr>
          <a:xfrm>
            <a:off x="13325540" y="5374849"/>
            <a:ext cx="5" cy="174817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1" name="Text Box 45"/>
          <p:cNvSpPr txBox="1"/>
          <p:nvPr/>
        </p:nvSpPr>
        <p:spPr>
          <a:xfrm>
            <a:off x="10293174" y="9686405"/>
            <a:ext cx="3713494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914400">
              <a:spcBef>
                <a:spcPts val="2000"/>
              </a:spcBef>
              <a:defRPr sz="2800">
                <a:solidFill>
                  <a:srgbClr val="080201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B-cell</a:t>
            </a:r>
          </a:p>
        </p:txBody>
      </p:sp>
      <p:sp>
        <p:nvSpPr>
          <p:cNvPr id="192" name="Text Box 45"/>
          <p:cNvSpPr txBox="1"/>
          <p:nvPr/>
        </p:nvSpPr>
        <p:spPr>
          <a:xfrm>
            <a:off x="9025413" y="4430557"/>
            <a:ext cx="112679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52400" tIns="152400" rIns="152400" bIns="152400">
            <a:spAutoFit/>
          </a:bodyPr>
          <a:lstStyle>
            <a:lvl1pPr defTabSz="914400">
              <a:spcBef>
                <a:spcPts val="2000"/>
              </a:spcBef>
              <a:defRPr sz="2800">
                <a:solidFill>
                  <a:srgbClr val="F63625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BcR</a:t>
            </a:r>
          </a:p>
        </p:txBody>
      </p:sp>
      <p:sp>
        <p:nvSpPr>
          <p:cNvPr id="193" name="Text Box 45"/>
          <p:cNvSpPr txBox="1"/>
          <p:nvPr/>
        </p:nvSpPr>
        <p:spPr>
          <a:xfrm>
            <a:off x="14231788" y="4508725"/>
            <a:ext cx="1126799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914400">
              <a:spcBef>
                <a:spcPts val="2000"/>
              </a:spcBef>
              <a:defRPr sz="2800">
                <a:solidFill>
                  <a:srgbClr val="00F9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CD40</a:t>
            </a:r>
          </a:p>
        </p:txBody>
      </p:sp>
      <p:grpSp>
        <p:nvGrpSpPr>
          <p:cNvPr id="196" name="Group 73"/>
          <p:cNvGrpSpPr/>
          <p:nvPr/>
        </p:nvGrpSpPr>
        <p:grpSpPr>
          <a:xfrm>
            <a:off x="10009296" y="5765589"/>
            <a:ext cx="544870" cy="449569"/>
            <a:chOff x="0" y="-2"/>
            <a:chExt cx="544869" cy="449568"/>
          </a:xfrm>
        </p:grpSpPr>
        <p:sp>
          <p:nvSpPr>
            <p:cNvPr id="194" name="Arc 74"/>
            <p:cNvSpPr/>
            <p:nvPr/>
          </p:nvSpPr>
          <p:spPr>
            <a:xfrm>
              <a:off x="-1" y="-3"/>
              <a:ext cx="469518" cy="449569"/>
            </a:xfrm>
            <a:prstGeom prst="ellips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2200">
                  <a:solidFill>
                    <a:srgbClr val="000000"/>
                  </a:solidFill>
                  <a:latin typeface="Abadi MT Condensed Light"/>
                  <a:ea typeface="Abadi MT Condensed Light"/>
                  <a:cs typeface="Abadi MT Condensed Light"/>
                  <a:sym typeface="Abadi MT Condensed Light"/>
                </a:defRPr>
              </a:pPr>
            </a:p>
          </p:txBody>
        </p:sp>
        <p:sp>
          <p:nvSpPr>
            <p:cNvPr id="195" name="AutoShape 75"/>
            <p:cNvSpPr/>
            <p:nvPr/>
          </p:nvSpPr>
          <p:spPr>
            <a:xfrm>
              <a:off x="404097" y="279885"/>
              <a:ext cx="140773" cy="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197" name="Text Box 60"/>
          <p:cNvSpPr txBox="1"/>
          <p:nvPr/>
        </p:nvSpPr>
        <p:spPr>
          <a:xfrm>
            <a:off x="13022360" y="6006264"/>
            <a:ext cx="981385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spcBef>
                <a:spcPts val="2000"/>
              </a:spcBef>
              <a:defRPr sz="2800">
                <a:solidFill>
                  <a:srgbClr val="0000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IRF4</a:t>
            </a:r>
          </a:p>
        </p:txBody>
      </p:sp>
      <p:grpSp>
        <p:nvGrpSpPr>
          <p:cNvPr id="202" name="Group"/>
          <p:cNvGrpSpPr/>
          <p:nvPr/>
        </p:nvGrpSpPr>
        <p:grpSpPr>
          <a:xfrm>
            <a:off x="11223518" y="5805604"/>
            <a:ext cx="3015721" cy="512238"/>
            <a:chOff x="-1" y="0"/>
            <a:chExt cx="3015719" cy="512237"/>
          </a:xfrm>
        </p:grpSpPr>
        <p:grpSp>
          <p:nvGrpSpPr>
            <p:cNvPr id="200" name="Group 63"/>
            <p:cNvGrpSpPr/>
            <p:nvPr/>
          </p:nvGrpSpPr>
          <p:grpSpPr>
            <a:xfrm>
              <a:off x="-2" y="337411"/>
              <a:ext cx="1843415" cy="174827"/>
              <a:chOff x="-2" y="-2"/>
              <a:chExt cx="1843414" cy="174826"/>
            </a:xfrm>
          </p:grpSpPr>
          <p:sp>
            <p:nvSpPr>
              <p:cNvPr id="198" name="AutoShape 64"/>
              <p:cNvSpPr/>
              <p:nvPr/>
            </p:nvSpPr>
            <p:spPr>
              <a:xfrm>
                <a:off x="-2" y="87114"/>
                <a:ext cx="1843414" cy="59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199" name="AutoShape 65"/>
              <p:cNvSpPr/>
              <p:nvPr/>
            </p:nvSpPr>
            <p:spPr>
              <a:xfrm flipH="1">
                <a:off x="-2" y="-3"/>
                <a:ext cx="7" cy="174828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sp>
          <p:nvSpPr>
            <p:cNvPr id="201" name="Arc 72"/>
            <p:cNvSpPr/>
            <p:nvPr/>
          </p:nvSpPr>
          <p:spPr>
            <a:xfrm flipH="1">
              <a:off x="2499633" y="-1"/>
              <a:ext cx="516085" cy="483618"/>
            </a:xfrm>
            <a:prstGeom prst="ellipse">
              <a:avLst/>
            </a:prstGeom>
            <a:noFill/>
            <a:ln w="38100" cap="flat">
              <a:solidFill>
                <a:srgbClr val="0096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2200">
                  <a:solidFill>
                    <a:srgbClr val="000000"/>
                  </a:solidFill>
                  <a:latin typeface="Abadi MT Condensed Light"/>
                  <a:ea typeface="Abadi MT Condensed Light"/>
                  <a:cs typeface="Abadi MT Condensed Light"/>
                  <a:sym typeface="Abadi MT Condensed Light"/>
                </a:defRPr>
              </a:pPr>
            </a:p>
          </p:txBody>
        </p:sp>
      </p:grpSp>
      <p:sp>
        <p:nvSpPr>
          <p:cNvPr id="203" name="Line"/>
          <p:cNvSpPr/>
          <p:nvPr/>
        </p:nvSpPr>
        <p:spPr>
          <a:xfrm>
            <a:off x="9786794" y="6397222"/>
            <a:ext cx="46921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4" name="Line"/>
          <p:cNvSpPr/>
          <p:nvPr/>
        </p:nvSpPr>
        <p:spPr>
          <a:xfrm flipV="1">
            <a:off x="12852867" y="6374941"/>
            <a:ext cx="265517" cy="265517"/>
          </a:xfrm>
          <a:prstGeom prst="line">
            <a:avLst/>
          </a:prstGeom>
          <a:ln w="38100">
            <a:solidFill>
              <a:srgbClr val="0096FF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5" name="Line"/>
          <p:cNvSpPr/>
          <p:nvPr/>
        </p:nvSpPr>
        <p:spPr>
          <a:xfrm>
            <a:off x="11120600" y="6449233"/>
            <a:ext cx="326617" cy="25668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6" name="Line"/>
          <p:cNvSpPr/>
          <p:nvPr/>
        </p:nvSpPr>
        <p:spPr>
          <a:xfrm>
            <a:off x="13853858" y="6423851"/>
            <a:ext cx="326617" cy="25667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7" name="Line"/>
          <p:cNvSpPr/>
          <p:nvPr/>
        </p:nvSpPr>
        <p:spPr>
          <a:xfrm>
            <a:off x="12043729" y="8542967"/>
            <a:ext cx="34455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8" name="Line"/>
          <p:cNvSpPr/>
          <p:nvPr/>
        </p:nvSpPr>
        <p:spPr>
          <a:xfrm>
            <a:off x="10578758" y="8542967"/>
            <a:ext cx="34120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214" name="Group"/>
          <p:cNvGrpSpPr/>
          <p:nvPr/>
        </p:nvGrpSpPr>
        <p:grpSpPr>
          <a:xfrm>
            <a:off x="13499397" y="3367942"/>
            <a:ext cx="1226056" cy="2706148"/>
            <a:chOff x="0" y="0"/>
            <a:chExt cx="1226054" cy="2706147"/>
          </a:xfrm>
        </p:grpSpPr>
        <p:sp>
          <p:nvSpPr>
            <p:cNvPr id="209" name="AutoShape 44"/>
            <p:cNvSpPr/>
            <p:nvPr/>
          </p:nvSpPr>
          <p:spPr>
            <a:xfrm>
              <a:off x="0" y="1646187"/>
              <a:ext cx="4" cy="1059961"/>
            </a:xfrm>
            <a:prstGeom prst="line">
              <a:avLst/>
            </a:prstGeom>
            <a:noFill/>
            <a:ln w="38100" cap="flat">
              <a:solidFill>
                <a:srgbClr val="00F900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213" name="Group"/>
            <p:cNvGrpSpPr/>
            <p:nvPr/>
          </p:nvGrpSpPr>
          <p:grpSpPr>
            <a:xfrm>
              <a:off x="99252" y="0"/>
              <a:ext cx="1126803" cy="1191400"/>
              <a:chOff x="0" y="0"/>
              <a:chExt cx="1126802" cy="1191399"/>
            </a:xfrm>
          </p:grpSpPr>
          <p:sp>
            <p:nvSpPr>
              <p:cNvPr id="210" name="Text Box 45"/>
              <p:cNvSpPr txBox="1"/>
              <p:nvPr/>
            </p:nvSpPr>
            <p:spPr>
              <a:xfrm>
                <a:off x="0" y="-1"/>
                <a:ext cx="1126803" cy="58927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91436" tIns="91436" rIns="91436" bIns="91436" numCol="1" anchor="t">
                <a:spAutoFit/>
              </a:bodyPr>
              <a:lstStyle>
                <a:lvl1pPr defTabSz="914400">
                  <a:spcBef>
                    <a:spcPts val="2000"/>
                  </a:spcBef>
                  <a:defRPr sz="2800">
                    <a:solidFill>
                      <a:srgbClr val="5A8A39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lvl1pPr>
              </a:lstStyle>
              <a:p>
                <a:pPr/>
                <a:r>
                  <a:t>CD40L</a:t>
                </a:r>
              </a:p>
            </p:txBody>
          </p:sp>
          <p:sp>
            <p:nvSpPr>
              <p:cNvPr id="211" name="Oval"/>
              <p:cNvSpPr/>
              <p:nvPr/>
            </p:nvSpPr>
            <p:spPr>
              <a:xfrm>
                <a:off x="54036" y="803795"/>
                <a:ext cx="378801" cy="387605"/>
              </a:xfrm>
              <a:prstGeom prst="ellipse">
                <a:avLst/>
              </a:prstGeom>
              <a:solidFill>
                <a:srgbClr val="5A8A39"/>
              </a:solidFill>
              <a:ln w="25400" cap="flat">
                <a:solidFill>
                  <a:srgbClr val="5A8A39"/>
                </a:solidFill>
                <a:prstDash val="solid"/>
                <a:miter lim="8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algn="l" defTabSz="914400">
                  <a:defRPr sz="3600">
                    <a:solidFill>
                      <a:srgbClr val="5A8A39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2" name="Line"/>
              <p:cNvSpPr/>
              <p:nvPr/>
            </p:nvSpPr>
            <p:spPr>
              <a:xfrm flipV="1">
                <a:off x="283433" y="615790"/>
                <a:ext cx="335459" cy="335459"/>
              </a:xfrm>
              <a:prstGeom prst="line">
                <a:avLst/>
              </a:prstGeom>
              <a:noFill/>
              <a:ln w="101600" cap="flat">
                <a:solidFill>
                  <a:srgbClr val="5A8A39"/>
                </a:solidFill>
                <a:prstDash val="solid"/>
                <a:miter lim="800000"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</p:grpSp>
      <p:grpSp>
        <p:nvGrpSpPr>
          <p:cNvPr id="220" name="Group"/>
          <p:cNvGrpSpPr/>
          <p:nvPr/>
        </p:nvGrpSpPr>
        <p:grpSpPr>
          <a:xfrm>
            <a:off x="9766923" y="3451364"/>
            <a:ext cx="1126801" cy="2535291"/>
            <a:chOff x="0" y="0"/>
            <a:chExt cx="1126800" cy="2535290"/>
          </a:xfrm>
        </p:grpSpPr>
        <p:sp>
          <p:nvSpPr>
            <p:cNvPr id="215" name="AutoShape 85"/>
            <p:cNvSpPr/>
            <p:nvPr/>
          </p:nvSpPr>
          <p:spPr>
            <a:xfrm>
              <a:off x="952667" y="1617508"/>
              <a:ext cx="602" cy="917779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ysDash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16" name="AutoShape 86"/>
            <p:cNvSpPr/>
            <p:nvPr/>
          </p:nvSpPr>
          <p:spPr>
            <a:xfrm flipH="1">
              <a:off x="885843" y="2535286"/>
              <a:ext cx="142681" cy="5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219" name="Group"/>
            <p:cNvGrpSpPr/>
            <p:nvPr/>
          </p:nvGrpSpPr>
          <p:grpSpPr>
            <a:xfrm>
              <a:off x="-1" y="0"/>
              <a:ext cx="1126801" cy="1237367"/>
              <a:chOff x="0" y="0"/>
              <a:chExt cx="1126800" cy="1237366"/>
            </a:xfrm>
          </p:grpSpPr>
          <p:sp>
            <p:nvSpPr>
              <p:cNvPr id="217" name="Triangle"/>
              <p:cNvSpPr/>
              <p:nvPr/>
            </p:nvSpPr>
            <p:spPr>
              <a:xfrm rot="1440000">
                <a:off x="382174" y="577661"/>
                <a:ext cx="582842" cy="5656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E62B14"/>
              </a:solidFill>
              <a:ln w="254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18" name="Text Box 45"/>
              <p:cNvSpPr/>
              <p:nvPr/>
            </p:nvSpPr>
            <p:spPr>
              <a:xfrm>
                <a:off x="-1" y="0"/>
                <a:ext cx="11268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52400" tIns="152400" rIns="152400" bIns="152400" numCol="1" anchor="t">
                <a:spAutoFit/>
              </a:bodyPr>
              <a:lstStyle>
                <a:lvl1pPr defTabSz="914400">
                  <a:spcBef>
                    <a:spcPts val="2000"/>
                  </a:spcBef>
                  <a:defRPr sz="2800">
                    <a:solidFill>
                      <a:srgbClr val="F63625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lvl1pPr>
              </a:lstStyle>
              <a:p>
                <a:pPr/>
                <a:r>
                  <a:t>Ag</a:t>
                </a:r>
              </a:p>
            </p:txBody>
          </p:sp>
        </p:grpSp>
      </p:grpSp>
      <p:sp>
        <p:nvSpPr>
          <p:cNvPr id="221" name="MR Martinez, 2012"/>
          <p:cNvSpPr txBox="1"/>
          <p:nvPr/>
        </p:nvSpPr>
        <p:spPr>
          <a:xfrm>
            <a:off x="10968449" y="11373202"/>
            <a:ext cx="2362945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badi MT Condensed Extra Bold"/>
                <a:ea typeface="Abadi MT Condensed Extra Bold"/>
                <a:cs typeface="Abadi MT Condensed Extra Bold"/>
                <a:sym typeface="Abadi MT Condensed Extra Bold"/>
              </a:defRPr>
            </a:lvl1pPr>
          </a:lstStyle>
          <a:p>
            <a:pPr/>
            <a:r>
              <a:t>MR Martinez, 2012</a:t>
            </a:r>
          </a:p>
        </p:txBody>
      </p:sp>
      <p:sp>
        <p:nvSpPr>
          <p:cNvPr id="222" name="Parameters increased when constitutive activation of IRF4"/>
          <p:cNvSpPr txBox="1"/>
          <p:nvPr/>
        </p:nvSpPr>
        <p:spPr>
          <a:xfrm>
            <a:off x="15578887" y="5831039"/>
            <a:ext cx="810768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Parameters increased when constitutive activation of IRF4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xit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2" grpId="4"/>
      <p:bldP build="whole" bldLvl="1" animBg="1" rev="0" advAuto="0" spid="214" grpId="3"/>
      <p:bldP build="whole" bldLvl="1" animBg="1" rev="0" advAuto="0" spid="220" grpId="1"/>
      <p:bldP build="whole" bldLvl="1" animBg="1" rev="0" advAuto="0" spid="220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RN of PC differentiation in GC (Healthy vs M8: Constitutive activation IRF4 )"/>
          <p:cNvSpPr txBox="1"/>
          <p:nvPr>
            <p:ph type="title" idx="4294967295"/>
          </p:nvPr>
        </p:nvSpPr>
        <p:spPr>
          <a:xfrm>
            <a:off x="1559674" y="394918"/>
            <a:ext cx="22978042" cy="2286003"/>
          </a:xfrm>
          <a:prstGeom prst="rect">
            <a:avLst/>
          </a:prstGeom>
        </p:spPr>
        <p:txBody>
          <a:bodyPr lIns="91437" tIns="91437" rIns="91437" bIns="91437" anchor="ctr"/>
          <a:lstStyle>
            <a:lvl1pPr defTabSz="914400">
              <a:lnSpc>
                <a:spcPct val="100000"/>
              </a:lnSpc>
              <a:defRPr b="0" spc="0" sz="7000"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GRN of PC differentiation in GC (Healthy vs M8: Constitutive activation IRF4 )</a:t>
            </a:r>
          </a:p>
        </p:txBody>
      </p:sp>
      <p:sp>
        <p:nvSpPr>
          <p:cNvPr id="225" name="bcr0=1…"/>
          <p:cNvSpPr txBox="1"/>
          <p:nvPr/>
        </p:nvSpPr>
        <p:spPr>
          <a:xfrm>
            <a:off x="16171473" y="10341867"/>
            <a:ext cx="4384779" cy="2545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M8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 duration= 0.1 time steps 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Cd40=50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 duration= 0.125 time steps</a:t>
            </a:r>
          </a:p>
        </p:txBody>
      </p:sp>
      <p:sp>
        <p:nvSpPr>
          <p:cNvPr id="226" name="bcr0=1…"/>
          <p:cNvSpPr txBox="1"/>
          <p:nvPr/>
        </p:nvSpPr>
        <p:spPr>
          <a:xfrm>
            <a:off x="4448304" y="10341867"/>
            <a:ext cx="4384778" cy="2545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Healthy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 duration= 0.1 time steps 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Cd40=50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 duration= 0.125 time steps</a:t>
            </a:r>
          </a:p>
        </p:txBody>
      </p:sp>
      <p:pic>
        <p:nvPicPr>
          <p:cNvPr id="227" name="Healthy_A1.jpeg" descr="Healthy_A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1864" y="3259616"/>
            <a:ext cx="8540183" cy="683214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M8_A1.jpeg" descr="M8_A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057138" y="3195669"/>
            <a:ext cx="8700052" cy="69600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itle 1"/>
          <p:cNvSpPr txBox="1"/>
          <p:nvPr>
            <p:ph type="title"/>
          </p:nvPr>
        </p:nvSpPr>
        <p:spPr>
          <a:xfrm>
            <a:off x="4543875" y="77363"/>
            <a:ext cx="16459202" cy="2286003"/>
          </a:xfrm>
          <a:prstGeom prst="rect">
            <a:avLst/>
          </a:prstGeom>
        </p:spPr>
        <p:txBody>
          <a:bodyPr/>
          <a:lstStyle>
            <a:lvl1pPr algn="l">
              <a:defRPr sz="7000"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GRN of PC differentiation in GC (+Foxo and c-Myc)</a:t>
            </a:r>
          </a:p>
        </p:txBody>
      </p:sp>
      <p:sp>
        <p:nvSpPr>
          <p:cNvPr id="231" name="AutoShape 65"/>
          <p:cNvSpPr/>
          <p:nvPr/>
        </p:nvSpPr>
        <p:spPr>
          <a:xfrm>
            <a:off x="10835109" y="5506697"/>
            <a:ext cx="5" cy="174817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32" name="Text Box 59"/>
          <p:cNvSpPr txBox="1"/>
          <p:nvPr/>
        </p:nvSpPr>
        <p:spPr>
          <a:xfrm>
            <a:off x="10192471" y="5990066"/>
            <a:ext cx="1041927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spcBef>
                <a:spcPts val="2000"/>
              </a:spcBef>
              <a:defRPr sz="2800">
                <a:solidFill>
                  <a:srgbClr val="FF26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BCL6</a:t>
            </a:r>
          </a:p>
        </p:txBody>
      </p:sp>
      <p:sp>
        <p:nvSpPr>
          <p:cNvPr id="233" name="Text Box 61"/>
          <p:cNvSpPr txBox="1"/>
          <p:nvPr/>
        </p:nvSpPr>
        <p:spPr>
          <a:xfrm>
            <a:off x="10790696" y="8232722"/>
            <a:ext cx="1383393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spcBef>
                <a:spcPts val="2000"/>
              </a:spcBef>
              <a:defRPr sz="2800">
                <a:solidFill>
                  <a:srgbClr val="CF881E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BLIMP1</a:t>
            </a:r>
          </a:p>
        </p:txBody>
      </p:sp>
      <p:sp>
        <p:nvSpPr>
          <p:cNvPr id="234" name="AutoShape 62"/>
          <p:cNvSpPr/>
          <p:nvPr/>
        </p:nvSpPr>
        <p:spPr>
          <a:xfrm flipH="1">
            <a:off x="11869581" y="6508704"/>
            <a:ext cx="1794319" cy="179431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237" name="Group 66"/>
          <p:cNvGrpSpPr/>
          <p:nvPr/>
        </p:nvGrpSpPr>
        <p:grpSpPr>
          <a:xfrm>
            <a:off x="10546900" y="6500696"/>
            <a:ext cx="549477" cy="1796865"/>
            <a:chOff x="-1" y="-1"/>
            <a:chExt cx="549475" cy="1796863"/>
          </a:xfrm>
        </p:grpSpPr>
        <p:sp>
          <p:nvSpPr>
            <p:cNvPr id="235" name="AutoShape 67"/>
            <p:cNvSpPr/>
            <p:nvPr/>
          </p:nvSpPr>
          <p:spPr>
            <a:xfrm>
              <a:off x="87322" y="5246"/>
              <a:ext cx="462153" cy="179161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36" name="AutoShape 68"/>
            <p:cNvSpPr/>
            <p:nvPr/>
          </p:nvSpPr>
          <p:spPr>
            <a:xfrm flipH="1" flipV="1">
              <a:off x="-2" y="-2"/>
              <a:ext cx="194339" cy="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40" name="Group 69"/>
          <p:cNvGrpSpPr/>
          <p:nvPr/>
        </p:nvGrpSpPr>
        <p:grpSpPr>
          <a:xfrm>
            <a:off x="10764841" y="6526132"/>
            <a:ext cx="591247" cy="1715901"/>
            <a:chOff x="0" y="-2"/>
            <a:chExt cx="591245" cy="1715900"/>
          </a:xfrm>
        </p:grpSpPr>
        <p:sp>
          <p:nvSpPr>
            <p:cNvPr id="238" name="AutoShape 70"/>
            <p:cNvSpPr/>
            <p:nvPr/>
          </p:nvSpPr>
          <p:spPr>
            <a:xfrm flipH="1" flipV="1">
              <a:off x="-1" y="-3"/>
              <a:ext cx="492791" cy="171590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39" name="AutoShape 71"/>
            <p:cNvSpPr/>
            <p:nvPr/>
          </p:nvSpPr>
          <p:spPr>
            <a:xfrm>
              <a:off x="396785" y="1715428"/>
              <a:ext cx="194461" cy="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49" name="Group 51"/>
          <p:cNvGrpSpPr/>
          <p:nvPr/>
        </p:nvGrpSpPr>
        <p:grpSpPr>
          <a:xfrm>
            <a:off x="10211090" y="4415005"/>
            <a:ext cx="600792" cy="659607"/>
            <a:chOff x="-3" y="-2"/>
            <a:chExt cx="600790" cy="659606"/>
          </a:xfrm>
        </p:grpSpPr>
        <p:grpSp>
          <p:nvGrpSpPr>
            <p:cNvPr id="244" name="Group 34"/>
            <p:cNvGrpSpPr/>
            <p:nvPr/>
          </p:nvGrpSpPr>
          <p:grpSpPr>
            <a:xfrm>
              <a:off x="-4" y="212278"/>
              <a:ext cx="463970" cy="447326"/>
              <a:chOff x="-1" y="-2"/>
              <a:chExt cx="463969" cy="447325"/>
            </a:xfrm>
          </p:grpSpPr>
          <p:sp>
            <p:nvSpPr>
              <p:cNvPr id="241" name="Rectangle 48"/>
              <p:cNvSpPr/>
              <p:nvPr/>
            </p:nvSpPr>
            <p:spPr>
              <a:xfrm rot="20129030">
                <a:off x="343419" y="146059"/>
                <a:ext cx="60553" cy="302329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242" name="Rectangle 49"/>
              <p:cNvSpPr/>
              <p:nvPr/>
            </p:nvSpPr>
            <p:spPr>
              <a:xfrm rot="20129030">
                <a:off x="37384" y="3844"/>
                <a:ext cx="60553" cy="193353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243" name="Rectangle 50"/>
              <p:cNvSpPr/>
              <p:nvPr/>
            </p:nvSpPr>
            <p:spPr>
              <a:xfrm rot="16529030">
                <a:off x="187013" y="42943"/>
                <a:ext cx="44621" cy="262387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4BACC6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</p:grpSp>
        <p:grpSp>
          <p:nvGrpSpPr>
            <p:cNvPr id="248" name="Group 35"/>
            <p:cNvGrpSpPr/>
            <p:nvPr/>
          </p:nvGrpSpPr>
          <p:grpSpPr>
            <a:xfrm>
              <a:off x="390729" y="-3"/>
              <a:ext cx="210059" cy="610666"/>
              <a:chOff x="0" y="0"/>
              <a:chExt cx="210057" cy="610665"/>
            </a:xfrm>
          </p:grpSpPr>
          <p:sp>
            <p:nvSpPr>
              <p:cNvPr id="245" name="Rectangle 45"/>
              <p:cNvSpPr/>
              <p:nvPr/>
            </p:nvSpPr>
            <p:spPr>
              <a:xfrm flipH="1" rot="20129030">
                <a:off x="59995" y="309405"/>
                <a:ext cx="60553" cy="302325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4BACC6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246" name="Rectangle 46"/>
              <p:cNvSpPr/>
              <p:nvPr/>
            </p:nvSpPr>
            <p:spPr>
              <a:xfrm flipH="1" rot="20129030">
                <a:off x="112122" y="3845"/>
                <a:ext cx="60551" cy="193351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4BACC6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247" name="Rectangle 47"/>
              <p:cNvSpPr/>
              <p:nvPr/>
            </p:nvSpPr>
            <p:spPr>
              <a:xfrm flipH="1" rot="2129030">
                <a:off x="82787" y="124561"/>
                <a:ext cx="44621" cy="262387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</p:grpSp>
      </p:grpSp>
      <p:sp>
        <p:nvSpPr>
          <p:cNvPr id="250" name="Oval 52"/>
          <p:cNvSpPr/>
          <p:nvPr/>
        </p:nvSpPr>
        <p:spPr>
          <a:xfrm>
            <a:off x="9618499" y="4493574"/>
            <a:ext cx="5163033" cy="4608425"/>
          </a:xfrm>
          <a:prstGeom prst="ellipse">
            <a:avLst/>
          </a:prstGeom>
          <a:ln w="76200">
            <a:solidFill>
              <a:srgbClr val="FFC000"/>
            </a:solidFill>
          </a:ln>
        </p:spPr>
        <p:txBody>
          <a:bodyPr lIns="91437" tIns="91437" rIns="91437" bIns="91437" anchor="ctr"/>
          <a:lstStyle/>
          <a:p>
            <a:pPr defTabSz="914400">
              <a:defRPr>
                <a:solidFill>
                  <a:srgbClr val="0000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pPr>
          </a:p>
        </p:txBody>
      </p:sp>
      <p:grpSp>
        <p:nvGrpSpPr>
          <p:cNvPr id="257" name="Group 44"/>
          <p:cNvGrpSpPr/>
          <p:nvPr/>
        </p:nvGrpSpPr>
        <p:grpSpPr>
          <a:xfrm>
            <a:off x="13458555" y="4484470"/>
            <a:ext cx="458651" cy="492814"/>
            <a:chOff x="-3" y="-3"/>
            <a:chExt cx="458650" cy="492812"/>
          </a:xfrm>
        </p:grpSpPr>
        <p:grpSp>
          <p:nvGrpSpPr>
            <p:cNvPr id="253" name="Group 6"/>
            <p:cNvGrpSpPr/>
            <p:nvPr/>
          </p:nvGrpSpPr>
          <p:grpSpPr>
            <a:xfrm>
              <a:off x="-4" y="-4"/>
              <a:ext cx="235748" cy="437338"/>
              <a:chOff x="-1" y="-1"/>
              <a:chExt cx="235746" cy="437337"/>
            </a:xfrm>
          </p:grpSpPr>
          <p:sp>
            <p:nvSpPr>
              <p:cNvPr id="251" name="Block Arc 71"/>
              <p:cNvSpPr/>
              <p:nvPr/>
            </p:nvSpPr>
            <p:spPr>
              <a:xfrm rot="12496510">
                <a:off x="29626" y="31686"/>
                <a:ext cx="176492" cy="1695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6" y="0"/>
                    </a:moveTo>
                    <a:cubicBezTo>
                      <a:pt x="12148" y="457"/>
                      <a:pt x="21600" y="9868"/>
                      <a:pt x="21600" y="21320"/>
                    </a:cubicBezTo>
                    <a:lnTo>
                      <a:pt x="17383" y="21600"/>
                    </a:lnTo>
                    <a:cubicBezTo>
                      <a:pt x="17383" y="12497"/>
                      <a:pt x="9708" y="5019"/>
                      <a:pt x="0" y="4663"/>
                    </a:cubicBezTo>
                    <a:close/>
                  </a:path>
                </a:pathLst>
              </a:custGeom>
              <a:solidFill>
                <a:srgbClr val="00F900"/>
              </a:solidFill>
              <a:ln w="25400" cap="flat">
                <a:solidFill>
                  <a:srgbClr val="77EB31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000000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252" name="Rectangle 72"/>
              <p:cNvSpPr/>
              <p:nvPr/>
            </p:nvSpPr>
            <p:spPr>
              <a:xfrm rot="1696511">
                <a:off x="70043" y="181501"/>
                <a:ext cx="39057" cy="262229"/>
              </a:xfrm>
              <a:prstGeom prst="rect">
                <a:avLst/>
              </a:prstGeom>
              <a:solidFill>
                <a:srgbClr val="77ED39"/>
              </a:solidFill>
              <a:ln w="25400" cap="flat">
                <a:solidFill>
                  <a:srgbClr val="82ED2E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</p:grpSp>
        <p:grpSp>
          <p:nvGrpSpPr>
            <p:cNvPr id="256" name="Group 40"/>
            <p:cNvGrpSpPr/>
            <p:nvPr/>
          </p:nvGrpSpPr>
          <p:grpSpPr>
            <a:xfrm>
              <a:off x="113398" y="119890"/>
              <a:ext cx="345250" cy="372920"/>
              <a:chOff x="0" y="-1"/>
              <a:chExt cx="345248" cy="372918"/>
            </a:xfrm>
          </p:grpSpPr>
          <p:sp>
            <p:nvSpPr>
              <p:cNvPr id="254" name="Block Arc 69"/>
              <p:cNvSpPr/>
              <p:nvPr/>
            </p:nvSpPr>
            <p:spPr>
              <a:xfrm flipH="1" rot="12496510">
                <a:off x="139128" y="31686"/>
                <a:ext cx="176493" cy="1695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6" y="0"/>
                    </a:moveTo>
                    <a:cubicBezTo>
                      <a:pt x="12148" y="457"/>
                      <a:pt x="21600" y="9868"/>
                      <a:pt x="21600" y="21320"/>
                    </a:cubicBezTo>
                    <a:lnTo>
                      <a:pt x="17383" y="21600"/>
                    </a:lnTo>
                    <a:cubicBezTo>
                      <a:pt x="17383" y="12497"/>
                      <a:pt x="9708" y="5019"/>
                      <a:pt x="0" y="4663"/>
                    </a:cubicBezTo>
                    <a:close/>
                  </a:path>
                </a:pathLst>
              </a:custGeom>
              <a:solidFill>
                <a:srgbClr val="73E73A"/>
              </a:solidFill>
              <a:ln w="25400" cap="flat">
                <a:solidFill>
                  <a:srgbClr val="8FFF45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000000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  <p:sp>
            <p:nvSpPr>
              <p:cNvPr id="255" name="Rectangle 70"/>
              <p:cNvSpPr/>
              <p:nvPr/>
            </p:nvSpPr>
            <p:spPr>
              <a:xfrm flipH="1" rot="1696511">
                <a:off x="59780" y="117079"/>
                <a:ext cx="39055" cy="262233"/>
              </a:xfrm>
              <a:prstGeom prst="rect">
                <a:avLst/>
              </a:prstGeom>
              <a:solidFill>
                <a:srgbClr val="86FB60"/>
              </a:solidFill>
              <a:ln w="25400" cap="flat">
                <a:solidFill>
                  <a:srgbClr val="69EA30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defTabSz="914400">
                  <a:defRPr>
                    <a:solidFill>
                      <a:srgbClr val="FFFFFF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pPr>
              </a:p>
            </p:txBody>
          </p:sp>
        </p:grpSp>
      </p:grpSp>
      <p:sp>
        <p:nvSpPr>
          <p:cNvPr id="258" name="Arc 1"/>
          <p:cNvSpPr/>
          <p:nvPr/>
        </p:nvSpPr>
        <p:spPr>
          <a:xfrm rot="1579664">
            <a:off x="10718869" y="5627508"/>
            <a:ext cx="342727" cy="38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38100">
            <a:solidFill>
              <a:srgbClr val="000000"/>
            </a:solidFill>
          </a:ln>
        </p:spPr>
        <p:txBody>
          <a:bodyPr lIns="91437" tIns="91437" rIns="91437" bIns="91437" anchor="ctr"/>
          <a:lstStyle/>
          <a:p>
            <a:pPr defTabSz="914400"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9" name="Arc 56"/>
          <p:cNvSpPr/>
          <p:nvPr/>
        </p:nvSpPr>
        <p:spPr>
          <a:xfrm flipH="1" rot="21035755">
            <a:off x="11067380" y="5559900"/>
            <a:ext cx="2269915" cy="38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045" fill="norm" stroke="1" extrusionOk="0">
                <a:moveTo>
                  <a:pt x="0" y="3590"/>
                </a:moveTo>
                <a:cubicBezTo>
                  <a:pt x="6111" y="-2555"/>
                  <a:pt x="14631" y="-617"/>
                  <a:pt x="19031" y="7918"/>
                </a:cubicBezTo>
                <a:cubicBezTo>
                  <a:pt x="20701" y="11159"/>
                  <a:pt x="21600" y="15052"/>
                  <a:pt x="21600" y="19045"/>
                </a:cubicBezTo>
              </a:path>
            </a:pathLst>
          </a:custGeom>
          <a:ln w="38100">
            <a:solidFill>
              <a:srgbClr val="000000"/>
            </a:solidFill>
          </a:ln>
        </p:spPr>
        <p:txBody>
          <a:bodyPr lIns="91437" tIns="91437" rIns="91437" bIns="91437" anchor="ctr"/>
          <a:lstStyle/>
          <a:p>
            <a:pPr defTabSz="914400">
              <a:defRPr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0" name="AutoShape 65"/>
          <p:cNvSpPr/>
          <p:nvPr/>
        </p:nvSpPr>
        <p:spPr>
          <a:xfrm>
            <a:off x="13325540" y="5374849"/>
            <a:ext cx="5" cy="174817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61" name="Text Box 45"/>
          <p:cNvSpPr txBox="1"/>
          <p:nvPr/>
        </p:nvSpPr>
        <p:spPr>
          <a:xfrm>
            <a:off x="10293174" y="9686405"/>
            <a:ext cx="3713494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914400">
              <a:spcBef>
                <a:spcPts val="2000"/>
              </a:spcBef>
              <a:defRPr sz="2800">
                <a:solidFill>
                  <a:srgbClr val="080201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B-cell</a:t>
            </a:r>
          </a:p>
        </p:txBody>
      </p:sp>
      <p:sp>
        <p:nvSpPr>
          <p:cNvPr id="262" name="Text Box 45"/>
          <p:cNvSpPr txBox="1"/>
          <p:nvPr/>
        </p:nvSpPr>
        <p:spPr>
          <a:xfrm>
            <a:off x="9025413" y="4430557"/>
            <a:ext cx="1126799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52400" tIns="152400" rIns="152400" bIns="152400">
            <a:spAutoFit/>
          </a:bodyPr>
          <a:lstStyle>
            <a:lvl1pPr defTabSz="914400">
              <a:spcBef>
                <a:spcPts val="2000"/>
              </a:spcBef>
              <a:defRPr sz="2800">
                <a:solidFill>
                  <a:srgbClr val="F63625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BcR</a:t>
            </a:r>
          </a:p>
        </p:txBody>
      </p:sp>
      <p:sp>
        <p:nvSpPr>
          <p:cNvPr id="263" name="Text Box 45"/>
          <p:cNvSpPr txBox="1"/>
          <p:nvPr/>
        </p:nvSpPr>
        <p:spPr>
          <a:xfrm>
            <a:off x="14231788" y="4508725"/>
            <a:ext cx="1126799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914400">
              <a:spcBef>
                <a:spcPts val="2000"/>
              </a:spcBef>
              <a:defRPr sz="2800">
                <a:solidFill>
                  <a:srgbClr val="00F9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CD40</a:t>
            </a:r>
          </a:p>
        </p:txBody>
      </p:sp>
      <p:grpSp>
        <p:nvGrpSpPr>
          <p:cNvPr id="266" name="Group 73"/>
          <p:cNvGrpSpPr/>
          <p:nvPr/>
        </p:nvGrpSpPr>
        <p:grpSpPr>
          <a:xfrm>
            <a:off x="10009296" y="5765589"/>
            <a:ext cx="544870" cy="449569"/>
            <a:chOff x="0" y="-2"/>
            <a:chExt cx="544869" cy="449568"/>
          </a:xfrm>
        </p:grpSpPr>
        <p:sp>
          <p:nvSpPr>
            <p:cNvPr id="264" name="Arc 74"/>
            <p:cNvSpPr/>
            <p:nvPr/>
          </p:nvSpPr>
          <p:spPr>
            <a:xfrm>
              <a:off x="-1" y="-3"/>
              <a:ext cx="469518" cy="449569"/>
            </a:xfrm>
            <a:prstGeom prst="ellips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2200">
                  <a:solidFill>
                    <a:srgbClr val="000000"/>
                  </a:solidFill>
                  <a:latin typeface="Abadi MT Condensed Light"/>
                  <a:ea typeface="Abadi MT Condensed Light"/>
                  <a:cs typeface="Abadi MT Condensed Light"/>
                  <a:sym typeface="Abadi MT Condensed Light"/>
                </a:defRPr>
              </a:pPr>
            </a:p>
          </p:txBody>
        </p:sp>
        <p:sp>
          <p:nvSpPr>
            <p:cNvPr id="265" name="AutoShape 75"/>
            <p:cNvSpPr/>
            <p:nvPr/>
          </p:nvSpPr>
          <p:spPr>
            <a:xfrm>
              <a:off x="404097" y="279885"/>
              <a:ext cx="140773" cy="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267" name="Text Box 60"/>
          <p:cNvSpPr txBox="1"/>
          <p:nvPr/>
        </p:nvSpPr>
        <p:spPr>
          <a:xfrm>
            <a:off x="13022360" y="6006264"/>
            <a:ext cx="981385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spcBef>
                <a:spcPts val="2000"/>
              </a:spcBef>
              <a:defRPr sz="2800">
                <a:solidFill>
                  <a:srgbClr val="0000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IRF4</a:t>
            </a:r>
          </a:p>
        </p:txBody>
      </p:sp>
      <p:grpSp>
        <p:nvGrpSpPr>
          <p:cNvPr id="272" name="Group"/>
          <p:cNvGrpSpPr/>
          <p:nvPr/>
        </p:nvGrpSpPr>
        <p:grpSpPr>
          <a:xfrm>
            <a:off x="11223518" y="5805604"/>
            <a:ext cx="3015721" cy="512238"/>
            <a:chOff x="-1" y="0"/>
            <a:chExt cx="3015719" cy="512237"/>
          </a:xfrm>
        </p:grpSpPr>
        <p:grpSp>
          <p:nvGrpSpPr>
            <p:cNvPr id="270" name="Group 63"/>
            <p:cNvGrpSpPr/>
            <p:nvPr/>
          </p:nvGrpSpPr>
          <p:grpSpPr>
            <a:xfrm>
              <a:off x="-2" y="337411"/>
              <a:ext cx="1843415" cy="174827"/>
              <a:chOff x="-2" y="-2"/>
              <a:chExt cx="1843414" cy="174826"/>
            </a:xfrm>
          </p:grpSpPr>
          <p:sp>
            <p:nvSpPr>
              <p:cNvPr id="268" name="AutoShape 64"/>
              <p:cNvSpPr/>
              <p:nvPr/>
            </p:nvSpPr>
            <p:spPr>
              <a:xfrm>
                <a:off x="-2" y="87114"/>
                <a:ext cx="1843414" cy="59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69" name="AutoShape 65"/>
              <p:cNvSpPr/>
              <p:nvPr/>
            </p:nvSpPr>
            <p:spPr>
              <a:xfrm flipH="1">
                <a:off x="-2" y="-3"/>
                <a:ext cx="7" cy="174828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sp>
          <p:nvSpPr>
            <p:cNvPr id="271" name="Arc 72"/>
            <p:cNvSpPr/>
            <p:nvPr/>
          </p:nvSpPr>
          <p:spPr>
            <a:xfrm flipH="1">
              <a:off x="2499633" y="-1"/>
              <a:ext cx="516085" cy="483618"/>
            </a:xfrm>
            <a:prstGeom prst="ellips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2200">
                  <a:solidFill>
                    <a:srgbClr val="000000"/>
                  </a:solidFill>
                  <a:latin typeface="Abadi MT Condensed Light"/>
                  <a:ea typeface="Abadi MT Condensed Light"/>
                  <a:cs typeface="Abadi MT Condensed Light"/>
                  <a:sym typeface="Abadi MT Condensed Light"/>
                </a:defRPr>
              </a:pPr>
            </a:p>
          </p:txBody>
        </p:sp>
      </p:grpSp>
      <p:sp>
        <p:nvSpPr>
          <p:cNvPr id="273" name="Line"/>
          <p:cNvSpPr/>
          <p:nvPr/>
        </p:nvSpPr>
        <p:spPr>
          <a:xfrm>
            <a:off x="9786794" y="6397222"/>
            <a:ext cx="46921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74" name="Line"/>
          <p:cNvSpPr/>
          <p:nvPr/>
        </p:nvSpPr>
        <p:spPr>
          <a:xfrm flipV="1">
            <a:off x="12852867" y="6374941"/>
            <a:ext cx="265517" cy="26551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75" name="Line"/>
          <p:cNvSpPr/>
          <p:nvPr/>
        </p:nvSpPr>
        <p:spPr>
          <a:xfrm>
            <a:off x="11120600" y="6449233"/>
            <a:ext cx="326617" cy="25668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76" name="Line"/>
          <p:cNvSpPr/>
          <p:nvPr/>
        </p:nvSpPr>
        <p:spPr>
          <a:xfrm>
            <a:off x="13853858" y="6423851"/>
            <a:ext cx="326617" cy="25667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77" name="Line"/>
          <p:cNvSpPr/>
          <p:nvPr/>
        </p:nvSpPr>
        <p:spPr>
          <a:xfrm>
            <a:off x="12043729" y="8542967"/>
            <a:ext cx="34455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78" name="Line"/>
          <p:cNvSpPr/>
          <p:nvPr/>
        </p:nvSpPr>
        <p:spPr>
          <a:xfrm>
            <a:off x="10578758" y="8542967"/>
            <a:ext cx="34120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79" name="Line"/>
          <p:cNvSpPr/>
          <p:nvPr/>
        </p:nvSpPr>
        <p:spPr>
          <a:xfrm>
            <a:off x="11425425" y="5139368"/>
            <a:ext cx="341203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80" name="Line"/>
          <p:cNvSpPr/>
          <p:nvPr/>
        </p:nvSpPr>
        <p:spPr>
          <a:xfrm>
            <a:off x="12559958" y="5139368"/>
            <a:ext cx="34120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286" name="Group"/>
          <p:cNvGrpSpPr/>
          <p:nvPr/>
        </p:nvGrpSpPr>
        <p:grpSpPr>
          <a:xfrm>
            <a:off x="13499397" y="3367942"/>
            <a:ext cx="1226056" cy="2706148"/>
            <a:chOff x="0" y="0"/>
            <a:chExt cx="1226054" cy="2706147"/>
          </a:xfrm>
        </p:grpSpPr>
        <p:sp>
          <p:nvSpPr>
            <p:cNvPr id="281" name="AutoShape 44"/>
            <p:cNvSpPr/>
            <p:nvPr/>
          </p:nvSpPr>
          <p:spPr>
            <a:xfrm>
              <a:off x="0" y="1646187"/>
              <a:ext cx="4" cy="1059961"/>
            </a:xfrm>
            <a:prstGeom prst="line">
              <a:avLst/>
            </a:prstGeom>
            <a:noFill/>
            <a:ln w="38100" cap="flat">
              <a:solidFill>
                <a:srgbClr val="00F900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285" name="Group"/>
            <p:cNvGrpSpPr/>
            <p:nvPr/>
          </p:nvGrpSpPr>
          <p:grpSpPr>
            <a:xfrm>
              <a:off x="99252" y="0"/>
              <a:ext cx="1126803" cy="1191400"/>
              <a:chOff x="0" y="0"/>
              <a:chExt cx="1126802" cy="1191399"/>
            </a:xfrm>
          </p:grpSpPr>
          <p:sp>
            <p:nvSpPr>
              <p:cNvPr id="282" name="Text Box 45"/>
              <p:cNvSpPr txBox="1"/>
              <p:nvPr/>
            </p:nvSpPr>
            <p:spPr>
              <a:xfrm>
                <a:off x="0" y="-1"/>
                <a:ext cx="1126803" cy="58927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91436" tIns="91436" rIns="91436" bIns="91436" numCol="1" anchor="t">
                <a:spAutoFit/>
              </a:bodyPr>
              <a:lstStyle>
                <a:lvl1pPr defTabSz="914400">
                  <a:spcBef>
                    <a:spcPts val="2000"/>
                  </a:spcBef>
                  <a:defRPr sz="2800">
                    <a:solidFill>
                      <a:srgbClr val="5A8A39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lvl1pPr>
              </a:lstStyle>
              <a:p>
                <a:pPr/>
                <a:r>
                  <a:t>CD40L</a:t>
                </a:r>
              </a:p>
            </p:txBody>
          </p:sp>
          <p:sp>
            <p:nvSpPr>
              <p:cNvPr id="283" name="Oval"/>
              <p:cNvSpPr/>
              <p:nvPr/>
            </p:nvSpPr>
            <p:spPr>
              <a:xfrm>
                <a:off x="54036" y="803795"/>
                <a:ext cx="378801" cy="387605"/>
              </a:xfrm>
              <a:prstGeom prst="ellipse">
                <a:avLst/>
              </a:prstGeom>
              <a:solidFill>
                <a:srgbClr val="5A8A39"/>
              </a:solidFill>
              <a:ln w="25400" cap="flat">
                <a:solidFill>
                  <a:srgbClr val="5A8A39"/>
                </a:solidFill>
                <a:prstDash val="solid"/>
                <a:miter lim="8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algn="l" defTabSz="914400">
                  <a:defRPr sz="3600">
                    <a:solidFill>
                      <a:srgbClr val="5A8A39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84" name="Line"/>
              <p:cNvSpPr/>
              <p:nvPr/>
            </p:nvSpPr>
            <p:spPr>
              <a:xfrm flipV="1">
                <a:off x="283433" y="615790"/>
                <a:ext cx="335459" cy="335459"/>
              </a:xfrm>
              <a:prstGeom prst="line">
                <a:avLst/>
              </a:prstGeom>
              <a:noFill/>
              <a:ln w="101600" cap="flat">
                <a:solidFill>
                  <a:srgbClr val="5A8A39"/>
                </a:solidFill>
                <a:prstDash val="solid"/>
                <a:miter lim="800000"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</p:grpSp>
      <p:grpSp>
        <p:nvGrpSpPr>
          <p:cNvPr id="294" name="Group"/>
          <p:cNvGrpSpPr/>
          <p:nvPr/>
        </p:nvGrpSpPr>
        <p:grpSpPr>
          <a:xfrm>
            <a:off x="9766924" y="3451364"/>
            <a:ext cx="1948505" cy="2535291"/>
            <a:chOff x="0" y="0"/>
            <a:chExt cx="1948504" cy="2535290"/>
          </a:xfrm>
        </p:grpSpPr>
        <p:sp>
          <p:nvSpPr>
            <p:cNvPr id="287" name="AutoShape 85"/>
            <p:cNvSpPr/>
            <p:nvPr/>
          </p:nvSpPr>
          <p:spPr>
            <a:xfrm>
              <a:off x="952667" y="1617508"/>
              <a:ext cx="602" cy="917779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ysDash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88" name="AutoShape 86"/>
            <p:cNvSpPr/>
            <p:nvPr/>
          </p:nvSpPr>
          <p:spPr>
            <a:xfrm flipH="1">
              <a:off x="885843" y="2535286"/>
              <a:ext cx="142681" cy="5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293" name="Group"/>
            <p:cNvGrpSpPr/>
            <p:nvPr/>
          </p:nvGrpSpPr>
          <p:grpSpPr>
            <a:xfrm>
              <a:off x="0" y="-1"/>
              <a:ext cx="1948505" cy="1634965"/>
              <a:chOff x="0" y="0"/>
              <a:chExt cx="1948504" cy="1634963"/>
            </a:xfrm>
          </p:grpSpPr>
          <p:sp>
            <p:nvSpPr>
              <p:cNvPr id="289" name="Triangle"/>
              <p:cNvSpPr/>
              <p:nvPr/>
            </p:nvSpPr>
            <p:spPr>
              <a:xfrm rot="1440000">
                <a:off x="382174" y="577661"/>
                <a:ext cx="582842" cy="5656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E62B14"/>
              </a:solidFill>
              <a:ln w="254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91437" tIns="91437" rIns="91437" bIns="91437" numCol="1" anchor="ctr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290" name="Text Box 45"/>
              <p:cNvSpPr txBox="1"/>
              <p:nvPr/>
            </p:nvSpPr>
            <p:spPr>
              <a:xfrm>
                <a:off x="-1" y="0"/>
                <a:ext cx="1126801" cy="711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52400" tIns="152400" rIns="152400" bIns="152400" numCol="1" anchor="t">
                <a:spAutoFit/>
              </a:bodyPr>
              <a:lstStyle>
                <a:lvl1pPr defTabSz="914400">
                  <a:spcBef>
                    <a:spcPts val="2000"/>
                  </a:spcBef>
                  <a:defRPr sz="2800">
                    <a:solidFill>
                      <a:srgbClr val="F63625"/>
                    </a:solidFill>
                    <a:latin typeface="Abadi MT Condensed Light"/>
                    <a:ea typeface="Abadi MT Condensed Light"/>
                    <a:cs typeface="Abadi MT Condensed Light"/>
                    <a:sym typeface="Abadi MT Condensed Light"/>
                  </a:defRPr>
                </a:lvl1pPr>
              </a:lstStyle>
              <a:p>
                <a:pPr/>
                <a:r>
                  <a:t>Ag</a:t>
                </a:r>
              </a:p>
            </p:txBody>
          </p:sp>
          <p:sp>
            <p:nvSpPr>
              <p:cNvPr id="291" name="AutoShape 85"/>
              <p:cNvSpPr/>
              <p:nvPr/>
            </p:nvSpPr>
            <p:spPr>
              <a:xfrm>
                <a:off x="1070538" y="1504582"/>
                <a:ext cx="877967" cy="3"/>
              </a:xfrm>
              <a:prstGeom prst="line">
                <a:avLst/>
              </a:prstGeom>
              <a:noFill/>
              <a:ln w="38100" cap="flat">
                <a:solidFill>
                  <a:srgbClr val="FF2600"/>
                </a:solidFill>
                <a:prstDash val="sysDash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92" name="AutoShape 86"/>
              <p:cNvSpPr/>
              <p:nvPr/>
            </p:nvSpPr>
            <p:spPr>
              <a:xfrm>
                <a:off x="1943517" y="1403797"/>
                <a:ext cx="3" cy="231167"/>
              </a:xfrm>
              <a:prstGeom prst="line">
                <a:avLst/>
              </a:prstGeom>
              <a:noFill/>
              <a:ln w="381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91437" tIns="91437" rIns="91437" bIns="91437" numCol="1" anchor="t">
                <a:noAutofit/>
              </a:bodyPr>
              <a:lstStyle/>
              <a:p>
                <a:pPr algn="l" defTabSz="914400">
                  <a:defRPr sz="36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</p:grpSp>
      <p:sp>
        <p:nvSpPr>
          <p:cNvPr id="295" name="FOXO"/>
          <p:cNvSpPr txBox="1"/>
          <p:nvPr/>
        </p:nvSpPr>
        <p:spPr>
          <a:xfrm>
            <a:off x="11751784" y="4798914"/>
            <a:ext cx="842533" cy="58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>
            <a:lvl1pPr algn="l" defTabSz="914400">
              <a:defRPr sz="2800">
                <a:solidFill>
                  <a:srgbClr val="0000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FOXO</a:t>
            </a:r>
          </a:p>
        </p:txBody>
      </p:sp>
      <p:grpSp>
        <p:nvGrpSpPr>
          <p:cNvPr id="298" name="Group"/>
          <p:cNvGrpSpPr/>
          <p:nvPr/>
        </p:nvGrpSpPr>
        <p:grpSpPr>
          <a:xfrm>
            <a:off x="12114749" y="5215119"/>
            <a:ext cx="142687" cy="1693203"/>
            <a:chOff x="-2" y="-2"/>
            <a:chExt cx="142685" cy="1693202"/>
          </a:xfrm>
        </p:grpSpPr>
        <p:sp>
          <p:nvSpPr>
            <p:cNvPr id="296" name="AutoShape 85"/>
            <p:cNvSpPr/>
            <p:nvPr/>
          </p:nvSpPr>
          <p:spPr>
            <a:xfrm flipH="1">
              <a:off x="68252" y="-3"/>
              <a:ext cx="2" cy="1693203"/>
            </a:xfrm>
            <a:prstGeom prst="line">
              <a:avLst/>
            </a:prstGeom>
            <a:noFill/>
            <a:ln w="508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97" name="AutoShape 86"/>
            <p:cNvSpPr/>
            <p:nvPr/>
          </p:nvSpPr>
          <p:spPr>
            <a:xfrm flipH="1">
              <a:off x="-3" y="1679108"/>
              <a:ext cx="142687" cy="5"/>
            </a:xfrm>
            <a:prstGeom prst="line">
              <a:avLst/>
            </a:prstGeom>
            <a:noFill/>
            <a:ln w="38100" cap="flat">
              <a:solidFill>
                <a:srgbClr val="0433FF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299" name="cMYC"/>
          <p:cNvSpPr txBox="1"/>
          <p:nvPr/>
        </p:nvSpPr>
        <p:spPr>
          <a:xfrm>
            <a:off x="11883083" y="7019162"/>
            <a:ext cx="821031" cy="58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7" tIns="91437" rIns="91437" bIns="91437">
            <a:spAutoFit/>
          </a:bodyPr>
          <a:lstStyle>
            <a:lvl1pPr algn="l" defTabSz="914400">
              <a:defRPr sz="2800">
                <a:solidFill>
                  <a:srgbClr val="000000"/>
                </a:solidFill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cMYC</a:t>
            </a:r>
          </a:p>
        </p:txBody>
      </p:sp>
      <p:grpSp>
        <p:nvGrpSpPr>
          <p:cNvPr id="302" name="Group"/>
          <p:cNvGrpSpPr/>
          <p:nvPr/>
        </p:nvGrpSpPr>
        <p:grpSpPr>
          <a:xfrm>
            <a:off x="11743697" y="7566587"/>
            <a:ext cx="399956" cy="721721"/>
            <a:chOff x="1" y="0"/>
            <a:chExt cx="399954" cy="721720"/>
          </a:xfrm>
        </p:grpSpPr>
        <p:sp>
          <p:nvSpPr>
            <p:cNvPr id="300" name="AutoShape 85"/>
            <p:cNvSpPr/>
            <p:nvPr/>
          </p:nvSpPr>
          <p:spPr>
            <a:xfrm flipH="1">
              <a:off x="1" y="-1"/>
              <a:ext cx="338339" cy="721722"/>
            </a:xfrm>
            <a:prstGeom prst="line">
              <a:avLst/>
            </a:prstGeom>
            <a:noFill/>
            <a:ln w="508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1" name="AutoShape 86"/>
            <p:cNvSpPr/>
            <p:nvPr/>
          </p:nvSpPr>
          <p:spPr>
            <a:xfrm flipH="1">
              <a:off x="226229" y="11792"/>
              <a:ext cx="173727" cy="5"/>
            </a:xfrm>
            <a:prstGeom prst="line">
              <a:avLst/>
            </a:prstGeom>
            <a:noFill/>
            <a:ln w="38100" cap="flat">
              <a:solidFill>
                <a:srgbClr val="0433FF"/>
              </a:solidFill>
              <a:prstDash val="solid"/>
              <a:round/>
            </a:ln>
            <a:effectLst/>
          </p:spPr>
          <p:txBody>
            <a:bodyPr wrap="square" lIns="91437" tIns="91437" rIns="91437" bIns="91437" numCol="1" anchor="t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303" name="Line"/>
          <p:cNvSpPr/>
          <p:nvPr/>
        </p:nvSpPr>
        <p:spPr>
          <a:xfrm>
            <a:off x="11610379" y="7367715"/>
            <a:ext cx="34120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04" name="Line"/>
          <p:cNvSpPr/>
          <p:nvPr/>
        </p:nvSpPr>
        <p:spPr>
          <a:xfrm>
            <a:off x="12602170" y="7326079"/>
            <a:ext cx="341205" cy="3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05" name="AutoShape 62"/>
          <p:cNvSpPr/>
          <p:nvPr/>
        </p:nvSpPr>
        <p:spPr>
          <a:xfrm flipH="1">
            <a:off x="11589225" y="5296319"/>
            <a:ext cx="327101" cy="2940681"/>
          </a:xfrm>
          <a:prstGeom prst="line">
            <a:avLst/>
          </a:prstGeom>
          <a:ln w="38100">
            <a:solidFill>
              <a:srgbClr val="0433FF"/>
            </a:solidFill>
            <a:tailEnd type="triangle"/>
          </a:ln>
        </p:spPr>
        <p:txBody>
          <a:bodyPr lIns="91437" tIns="91437" rIns="91437" bIns="91437"/>
          <a:lstStyle/>
          <a:p>
            <a:pPr algn="l" defTabSz="914400">
              <a:defRPr sz="3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06" name="Missing relations"/>
          <p:cNvSpPr txBox="1"/>
          <p:nvPr/>
        </p:nvSpPr>
        <p:spPr>
          <a:xfrm>
            <a:off x="16509421" y="3757484"/>
            <a:ext cx="6749745" cy="74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>
            <a:lvl1pPr algn="l" defTabSz="914400">
              <a:defRPr sz="3600">
                <a:solidFill>
                  <a:srgbClr val="0433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Added relations based on luo, 2018</a:t>
            </a:r>
          </a:p>
        </p:txBody>
      </p:sp>
      <p:grpSp>
        <p:nvGrpSpPr>
          <p:cNvPr id="309" name="Group"/>
          <p:cNvGrpSpPr/>
          <p:nvPr/>
        </p:nvGrpSpPr>
        <p:grpSpPr>
          <a:xfrm>
            <a:off x="12537707" y="4883242"/>
            <a:ext cx="923002" cy="243028"/>
            <a:chOff x="0" y="0"/>
            <a:chExt cx="923001" cy="243027"/>
          </a:xfrm>
        </p:grpSpPr>
        <p:sp>
          <p:nvSpPr>
            <p:cNvPr id="307" name="AutoShape 85"/>
            <p:cNvSpPr/>
            <p:nvPr/>
          </p:nvSpPr>
          <p:spPr>
            <a:xfrm>
              <a:off x="0" y="132657"/>
              <a:ext cx="923002" cy="4"/>
            </a:xfrm>
            <a:prstGeom prst="line">
              <a:avLst/>
            </a:prstGeom>
            <a:noFill/>
            <a:ln w="38100" cap="flat">
              <a:solidFill>
                <a:srgbClr val="0433FF"/>
              </a:solidFill>
              <a:prstDash val="sysDash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algn="l" defTabSz="4572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8" name="AutoShape 86"/>
            <p:cNvSpPr/>
            <p:nvPr/>
          </p:nvSpPr>
          <p:spPr>
            <a:xfrm flipH="1">
              <a:off x="9857" y="0"/>
              <a:ext cx="4" cy="243028"/>
            </a:xfrm>
            <a:prstGeom prst="line">
              <a:avLst/>
            </a:prstGeom>
            <a:noFill/>
            <a:ln w="38100" cap="flat">
              <a:solidFill>
                <a:srgbClr val="0433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algn="l" defTabSz="4572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310" name="AutoShape 62"/>
          <p:cNvSpPr/>
          <p:nvPr/>
        </p:nvSpPr>
        <p:spPr>
          <a:xfrm flipH="1">
            <a:off x="12599088" y="6428721"/>
            <a:ext cx="714544" cy="714545"/>
          </a:xfrm>
          <a:prstGeom prst="line">
            <a:avLst/>
          </a:prstGeom>
          <a:ln w="50800">
            <a:solidFill>
              <a:srgbClr val="0433FF"/>
            </a:solidFill>
            <a:tailEnd type="triangle"/>
          </a:ln>
        </p:spPr>
        <p:txBody>
          <a:bodyPr lIns="45718" tIns="45718" rIns="45718" bIns="45718"/>
          <a:lstStyle/>
          <a:p>
            <a:pPr algn="l" defTabSz="457200">
              <a:defRPr sz="1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xit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xit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8" grpId="4"/>
      <p:bldP build="whole" bldLvl="1" animBg="1" rev="0" advAuto="0" spid="272" grpId="5"/>
      <p:bldP build="whole" bldLvl="1" animBg="1" rev="0" advAuto="0" spid="286" grpId="3"/>
      <p:bldP build="whole" bldLvl="1" animBg="1" rev="0" advAuto="0" spid="294" grpId="1"/>
      <p:bldP build="whole" bldLvl="1" animBg="1" rev="0" advAuto="0" spid="294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CMYCFOXO_A1.jpeg" descr="CMYCFOXO_A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22182" y="4358300"/>
            <a:ext cx="7641115" cy="6112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CMYCFOXO_A0.5.jpeg" descr="CMYCFOXO_A0.5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34938" y="4487785"/>
            <a:ext cx="7317402" cy="5853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CMYCFOXO_A0.jpeg" descr="CMYCFOXO_A0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3838" y="4539520"/>
            <a:ext cx="7188065" cy="5750452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bcr0=1…"/>
          <p:cNvSpPr txBox="1"/>
          <p:nvPr/>
        </p:nvSpPr>
        <p:spPr>
          <a:xfrm>
            <a:off x="9114622" y="10797643"/>
            <a:ext cx="4384779" cy="215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A=0.5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 duration= 0.1 time steps 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Cd40=50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 duration= 0.125 time steps</a:t>
            </a:r>
          </a:p>
        </p:txBody>
      </p:sp>
      <p:sp>
        <p:nvSpPr>
          <p:cNvPr id="316" name="GRN of PC differentiation in GC (Healthy with cMYC and Foxo)"/>
          <p:cNvSpPr txBox="1"/>
          <p:nvPr>
            <p:ph type="title" idx="4294967295"/>
          </p:nvPr>
        </p:nvSpPr>
        <p:spPr>
          <a:xfrm>
            <a:off x="3736359" y="303763"/>
            <a:ext cx="18525326" cy="2286003"/>
          </a:xfrm>
          <a:prstGeom prst="rect">
            <a:avLst/>
          </a:prstGeom>
        </p:spPr>
        <p:txBody>
          <a:bodyPr lIns="91437" tIns="91437" rIns="91437" bIns="91437" anchor="ctr"/>
          <a:lstStyle>
            <a:lvl1pPr defTabSz="914400">
              <a:lnSpc>
                <a:spcPct val="100000"/>
              </a:lnSpc>
              <a:defRPr b="0" spc="0" sz="7000"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GRN of PC differentiation in GC (Healthy with cMYC and Foxo)</a:t>
            </a:r>
          </a:p>
        </p:txBody>
      </p:sp>
      <p:sp>
        <p:nvSpPr>
          <p:cNvPr id="317" name="bcr0=1…"/>
          <p:cNvSpPr txBox="1"/>
          <p:nvPr/>
        </p:nvSpPr>
        <p:spPr>
          <a:xfrm>
            <a:off x="18450351" y="10797643"/>
            <a:ext cx="4384778" cy="215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 duration= 0.1 time steps 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Cd40=50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 duration= 0.125 time steps</a:t>
            </a:r>
          </a:p>
        </p:txBody>
      </p:sp>
      <p:sp>
        <p:nvSpPr>
          <p:cNvPr id="318" name="Line"/>
          <p:cNvSpPr/>
          <p:nvPr/>
        </p:nvSpPr>
        <p:spPr>
          <a:xfrm flipV="1">
            <a:off x="20285596" y="5479892"/>
            <a:ext cx="1" cy="3539508"/>
          </a:xfrm>
          <a:prstGeom prst="line">
            <a:avLst/>
          </a:prstGeom>
          <a:ln w="76200" cap="rnd">
            <a:solidFill>
              <a:srgbClr val="FF26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9" name="Line"/>
          <p:cNvSpPr/>
          <p:nvPr/>
        </p:nvSpPr>
        <p:spPr>
          <a:xfrm flipV="1">
            <a:off x="11636496" y="5403258"/>
            <a:ext cx="1" cy="3667376"/>
          </a:xfrm>
          <a:prstGeom prst="line">
            <a:avLst/>
          </a:prstGeom>
          <a:ln w="76200" cap="rnd">
            <a:solidFill>
              <a:srgbClr val="FF26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0" name="CCs recycling calculate their divisions soon after rescue. Then they wait for 10 hrs before turning to CBs.…"/>
          <p:cNvSpPr txBox="1"/>
          <p:nvPr/>
        </p:nvSpPr>
        <p:spPr>
          <a:xfrm>
            <a:off x="7190090" y="3177138"/>
            <a:ext cx="14950124" cy="854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500">
                <a:solidFill>
                  <a:srgbClr val="FF2600"/>
                </a:solidFill>
              </a:defRPr>
            </a:pPr>
            <a:r>
              <a:t>CCs recycling calculate their divisions soon after rescue. Then they wait for 10 hrs before turning to CBs.</a:t>
            </a:r>
          </a:p>
          <a:p>
            <a:pPr algn="l">
              <a:defRPr sz="2500">
                <a:solidFill>
                  <a:srgbClr val="000000"/>
                </a:solidFill>
              </a:defRPr>
            </a:pPr>
            <a:r>
              <a:t>PC differentiation can take between 10 and 34 hours (recycling + divisions)</a:t>
            </a:r>
          </a:p>
        </p:txBody>
      </p:sp>
      <p:sp>
        <p:nvSpPr>
          <p:cNvPr id="321" name="bcr0=1…"/>
          <p:cNvSpPr txBox="1"/>
          <p:nvPr/>
        </p:nvSpPr>
        <p:spPr>
          <a:xfrm>
            <a:off x="946504" y="10797643"/>
            <a:ext cx="4384779" cy="215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A=0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 duration= 0.1 time steps 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Cd40=50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 duration= 0.125 time steps</a:t>
            </a:r>
          </a:p>
        </p:txBody>
      </p:sp>
      <p:sp>
        <p:nvSpPr>
          <p:cNvPr id="322" name="Line"/>
          <p:cNvSpPr/>
          <p:nvPr/>
        </p:nvSpPr>
        <p:spPr>
          <a:xfrm flipV="1">
            <a:off x="4076127" y="5403258"/>
            <a:ext cx="1" cy="3667376"/>
          </a:xfrm>
          <a:prstGeom prst="line">
            <a:avLst/>
          </a:prstGeom>
          <a:ln w="76200" cap="rnd">
            <a:solidFill>
              <a:srgbClr val="FF26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CMYCFOXO_M8_A1.jpeg" descr="CMYCFOXO_M8_A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668170" y="4251233"/>
            <a:ext cx="8243304" cy="6594644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CMYCFOXO_M8_A0.5.jpeg" descr="CMYCFOXO_M8_A0.5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22698" y="4281958"/>
            <a:ext cx="8338604" cy="66708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CMYCFOXO_M8_A0.jpeg" descr="CMYCFOXO_M8_A0.jpeg"/>
          <p:cNvPicPr>
            <a:picLocks noChangeAspect="1"/>
          </p:cNvPicPr>
          <p:nvPr/>
        </p:nvPicPr>
        <p:blipFill>
          <a:blip r:embed="rId4">
            <a:extLst/>
          </a:blip>
          <a:srcRect l="0" t="0" r="3806" b="0"/>
          <a:stretch>
            <a:fillRect/>
          </a:stretch>
        </p:blipFill>
        <p:spPr>
          <a:xfrm>
            <a:off x="236897" y="4364970"/>
            <a:ext cx="7638351" cy="6352457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GRN of PC differentiation in GC (M8 with cMYC and Foxo)"/>
          <p:cNvSpPr txBox="1"/>
          <p:nvPr>
            <p:ph type="title" idx="4294967295"/>
          </p:nvPr>
        </p:nvSpPr>
        <p:spPr>
          <a:xfrm>
            <a:off x="3706982" y="-83646"/>
            <a:ext cx="17582441" cy="2286003"/>
          </a:xfrm>
          <a:prstGeom prst="rect">
            <a:avLst/>
          </a:prstGeom>
        </p:spPr>
        <p:txBody>
          <a:bodyPr lIns="91437" tIns="91437" rIns="91437" bIns="91437" anchor="ctr"/>
          <a:lstStyle>
            <a:lvl1pPr defTabSz="914400">
              <a:lnSpc>
                <a:spcPct val="100000"/>
              </a:lnSpc>
              <a:defRPr b="0" spc="0" sz="7000">
                <a:latin typeface="Abadi MT Condensed Light"/>
                <a:ea typeface="Abadi MT Condensed Light"/>
                <a:cs typeface="Abadi MT Condensed Light"/>
                <a:sym typeface="Abadi MT Condensed Light"/>
              </a:defRPr>
            </a:lvl1pPr>
          </a:lstStyle>
          <a:p>
            <a:pPr/>
            <a:r>
              <a:t>GRN of PC differentiation in GC (M8 with cMYC and Foxo)</a:t>
            </a:r>
          </a:p>
        </p:txBody>
      </p:sp>
      <p:sp>
        <p:nvSpPr>
          <p:cNvPr id="328" name="bcr0=1…"/>
          <p:cNvSpPr txBox="1"/>
          <p:nvPr/>
        </p:nvSpPr>
        <p:spPr>
          <a:xfrm>
            <a:off x="9114622" y="10797643"/>
            <a:ext cx="4384779" cy="215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A=0.5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 duration= 0.1 time steps 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Cd40=50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 duration= 0.125 time steps</a:t>
            </a:r>
          </a:p>
        </p:txBody>
      </p:sp>
      <p:sp>
        <p:nvSpPr>
          <p:cNvPr id="329" name="bcr0=1…"/>
          <p:cNvSpPr txBox="1"/>
          <p:nvPr/>
        </p:nvSpPr>
        <p:spPr>
          <a:xfrm>
            <a:off x="18450351" y="10797643"/>
            <a:ext cx="4384778" cy="215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 duration= 0.1 time steps 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Cd40=50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 duration= 0.125 time steps</a:t>
            </a:r>
          </a:p>
        </p:txBody>
      </p:sp>
      <p:sp>
        <p:nvSpPr>
          <p:cNvPr id="330" name="bcr0=1…"/>
          <p:cNvSpPr txBox="1"/>
          <p:nvPr/>
        </p:nvSpPr>
        <p:spPr>
          <a:xfrm>
            <a:off x="946504" y="10797643"/>
            <a:ext cx="4384779" cy="215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7" tIns="91437" rIns="91437" bIns="91437">
            <a:spAutoFit/>
          </a:bodyPr>
          <a:lstStyle/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A=0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bcr0=1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bcr0 duration= 0.1 time steps 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Cd40=50</a:t>
            </a:r>
          </a:p>
          <a:p>
            <a:pPr algn="l" defTabSz="914400">
              <a:defRPr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Cd40 duration= 0.125 time steps</a:t>
            </a:r>
          </a:p>
        </p:txBody>
      </p:sp>
      <p:sp>
        <p:nvSpPr>
          <p:cNvPr id="331" name="Line"/>
          <p:cNvSpPr/>
          <p:nvPr/>
        </p:nvSpPr>
        <p:spPr>
          <a:xfrm flipV="1">
            <a:off x="11771661" y="5624498"/>
            <a:ext cx="1" cy="3667376"/>
          </a:xfrm>
          <a:prstGeom prst="line">
            <a:avLst/>
          </a:prstGeom>
          <a:ln w="76200" cap="rnd">
            <a:solidFill>
              <a:srgbClr val="FF26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2" name="Line"/>
          <p:cNvSpPr/>
          <p:nvPr/>
        </p:nvSpPr>
        <p:spPr>
          <a:xfrm flipV="1">
            <a:off x="3850050" y="5508626"/>
            <a:ext cx="1" cy="3667376"/>
          </a:xfrm>
          <a:prstGeom prst="line">
            <a:avLst/>
          </a:prstGeom>
          <a:ln w="76200" cap="rnd">
            <a:solidFill>
              <a:srgbClr val="FF26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3" name="Line"/>
          <p:cNvSpPr/>
          <p:nvPr/>
        </p:nvSpPr>
        <p:spPr>
          <a:xfrm flipV="1">
            <a:off x="19425201" y="5624498"/>
            <a:ext cx="1" cy="3667376"/>
          </a:xfrm>
          <a:prstGeom prst="line">
            <a:avLst/>
          </a:prstGeom>
          <a:ln w="76200" cap="rnd">
            <a:solidFill>
              <a:srgbClr val="FF26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4" name="CCs recycling calculate their divisions soon after rescue. Then they wait for 10 hrs before turning to CBs.…"/>
          <p:cNvSpPr txBox="1"/>
          <p:nvPr/>
        </p:nvSpPr>
        <p:spPr>
          <a:xfrm>
            <a:off x="7190090" y="3177138"/>
            <a:ext cx="14950124" cy="854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500">
                <a:solidFill>
                  <a:srgbClr val="FF2600"/>
                </a:solidFill>
              </a:defRPr>
            </a:pPr>
            <a:r>
              <a:t>CCs recycling calculate their divisions soon after rescue. Then they wait for 10 hrs before turning to CBs.</a:t>
            </a:r>
          </a:p>
          <a:p>
            <a:pPr algn="l">
              <a:defRPr sz="2500">
                <a:solidFill>
                  <a:srgbClr val="000000"/>
                </a:solidFill>
              </a:defRPr>
            </a:pPr>
            <a:r>
              <a:t>PC differentiation can take between 10 and 34 hours (recycling + divisions)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